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69522F-1BA2-4A14-BA50-62EA8253B33E}">
  <a:tblStyle styleId="{2C69522F-1BA2-4A14-BA50-62EA8253B3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d46178f5a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ed46178f5a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d46178f5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d46178f5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d46178f5a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d46178f5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a98a503a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a98a503a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a98a503a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a98a503a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a98a503a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a98a503a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d46178f5a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d46178f5a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a98a503a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a98a503a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a98a503a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a98a503a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a98a503a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a98a503a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a98a503a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a98a503a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a98a503a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a98a503a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a98a503aa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a98a503a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a98a503aa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a98a503a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d46178f5a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d46178f5a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d46178f5a_0_1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ed46178f5a_0_1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261593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i="0" lang="ru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МИНОБРНАУКИ РОССИИ ФЕДЕРАЛЬНОЕ ГОСУДАРСТВЕННОЕ БЮДЖЕТНОЕ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i="0" lang="ru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ОБРАЗОВАТЕЛЬНОЕ УЧРЕЖДЕНИЕ ВЫСШЕГО ОБРАЗОВАНИЯ «ВОРОНЕЖСКИЙ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i="0" lang="ru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ГОСУДАРСТВЕННЫЙ УНИВЕРСИТЕТ» (ФГБОУ ВО «ВГУ»)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728121" y="2255316"/>
            <a:ext cx="61035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" sz="2700">
                <a:latin typeface="Times New Roman"/>
                <a:ea typeface="Times New Roman"/>
                <a:cs typeface="Times New Roman"/>
                <a:sym typeface="Times New Roman"/>
              </a:rPr>
              <a:t>Разработка мобильного приложения для поиска рецептов коктейлей </a:t>
            </a:r>
            <a:endParaRPr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63999" y="1297004"/>
            <a:ext cx="7950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i="0" lang="ru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Факультет компьютерных наук</a:t>
            </a:r>
            <a:endParaRPr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i="0" lang="ru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Кафедра программирования и информационных технологий</a:t>
            </a:r>
            <a:endParaRPr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013210" y="4375022"/>
            <a:ext cx="6103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None/>
            </a:pPr>
            <a:r>
              <a:rPr i="0" lang="ru" sz="2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Консультант: Ушаков В.А.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None/>
            </a:pPr>
            <a:r>
              <a:rPr i="0" lang="ru" sz="2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Выполнил: </a:t>
            </a:r>
            <a:r>
              <a:rPr lang="ru" sz="2300">
                <a:latin typeface="Times New Roman"/>
                <a:ea typeface="Times New Roman"/>
                <a:cs typeface="Times New Roman"/>
                <a:sym typeface="Times New Roman"/>
              </a:rPr>
              <a:t>Ковалев К</a:t>
            </a:r>
            <a:r>
              <a:rPr i="0" lang="ru" sz="2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ru" sz="2300"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r>
              <a:rPr i="0" lang="ru" sz="2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Актуальность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рецепты разбросаны по сайтам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неудобно искать нужный коктейль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сложно понять, что можно приготовить дома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620">
                <a:latin typeface="Times New Roman"/>
                <a:ea typeface="Times New Roman"/>
                <a:cs typeface="Times New Roman"/>
                <a:sym typeface="Times New Roman"/>
              </a:rPr>
              <a:t>Цель и задачи</a:t>
            </a:r>
            <a:endParaRPr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15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Цель: </a:t>
            </a:r>
            <a:r>
              <a:rPr lang="ru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Разработать мобильное приложение для поиска рецептов коктейлей с функцией подбора по ингредиентам, локальным хранением данных и облачной синхронизацией. 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2887975"/>
            <a:ext cx="8520600" cy="19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Задачи: 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ru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анализ предметной области и существующих аналогов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ru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спроектировать </a:t>
            </a:r>
            <a:r>
              <a:rPr lang="ru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архитектуру</a:t>
            </a:r>
            <a:r>
              <a:rPr lang="ru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на основе Clean Architecture и MVVM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ru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разработать алгоритм параллельного подбора рецептов по ингредиентам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ru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реализовать экраны приложения и облачную синхронизацию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620">
                <a:latin typeface="Times New Roman"/>
                <a:ea typeface="Times New Roman"/>
                <a:cs typeface="Times New Roman"/>
                <a:sym typeface="Times New Roman"/>
              </a:rPr>
              <a:t>Анализ аналогов</a:t>
            </a:r>
            <a:endParaRPr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752125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{2C69522F-1BA2-4A14-BA50-62EA8253B33E}</a:tableStyleId>
              </a:tblPr>
              <a:tblGrid>
                <a:gridCol w="1609450"/>
                <a:gridCol w="1609450"/>
                <a:gridCol w="1609450"/>
                <a:gridCol w="1492900"/>
                <a:gridCol w="1726000"/>
              </a:tblGrid>
              <a:tr h="80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Критерий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Cocktail Flow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Drinkly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My Bar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Разрабатываемое приложение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3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Бесплатное использование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Частично платно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Бесплатно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Бесплатно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Бесплатно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3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Большая база рецептов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3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Поиск по названию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3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Подбор по </a:t>
                      </a: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ингредиентам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Платно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50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Облачная синхронизация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0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720">
                <a:latin typeface="Times New Roman"/>
                <a:ea typeface="Times New Roman"/>
                <a:cs typeface="Times New Roman"/>
                <a:sym typeface="Times New Roman"/>
              </a:rPr>
              <a:t>Технологический стек</a:t>
            </a:r>
            <a:endParaRPr sz="27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3600" y="547725"/>
            <a:ext cx="784450" cy="7844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652250" y="1064850"/>
            <a:ext cx="3475800" cy="3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Kotlin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Jetpack Compose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Koin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Retrofit, OkHttp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Gson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Firebase Auth, Firestore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8212" y="3423973"/>
            <a:ext cx="915238" cy="989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3125" y="2033350"/>
            <a:ext cx="989850" cy="98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00900" y="2033350"/>
            <a:ext cx="989850" cy="9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Архитектурный подход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3427150" y="1017724"/>
            <a:ext cx="3099600" cy="750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/>
              <a:t>Presentation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Jetpack Compose, ViewModel</a:t>
            </a:r>
            <a:endParaRPr sz="1600"/>
          </a:p>
        </p:txBody>
      </p:sp>
      <p:sp>
        <p:nvSpPr>
          <p:cNvPr id="98" name="Google Shape;98;p18"/>
          <p:cNvSpPr/>
          <p:nvPr/>
        </p:nvSpPr>
        <p:spPr>
          <a:xfrm>
            <a:off x="1074200" y="3885200"/>
            <a:ext cx="2077500" cy="714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Retrofit</a:t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3938200" y="2754001"/>
            <a:ext cx="2077500" cy="913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/>
              <a:t>Data</a:t>
            </a:r>
            <a:endParaRPr b="1"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Repository implementations</a:t>
            </a:r>
            <a:endParaRPr sz="1600"/>
          </a:p>
        </p:txBody>
      </p:sp>
      <p:sp>
        <p:nvSpPr>
          <p:cNvPr id="100" name="Google Shape;100;p18"/>
          <p:cNvSpPr/>
          <p:nvPr/>
        </p:nvSpPr>
        <p:spPr>
          <a:xfrm>
            <a:off x="3743050" y="1896371"/>
            <a:ext cx="2467800" cy="69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/>
              <a:t>Domain</a:t>
            </a:r>
            <a:br>
              <a:rPr lang="ru" sz="1600"/>
            </a:br>
            <a:r>
              <a:rPr lang="ru" sz="1600"/>
              <a:t>Use Cases, модели</a:t>
            </a:r>
            <a:endParaRPr sz="1600"/>
          </a:p>
        </p:txBody>
      </p:sp>
      <p:sp>
        <p:nvSpPr>
          <p:cNvPr id="101" name="Google Shape;101;p18"/>
          <p:cNvSpPr/>
          <p:nvPr/>
        </p:nvSpPr>
        <p:spPr>
          <a:xfrm>
            <a:off x="3938650" y="3853050"/>
            <a:ext cx="2077500" cy="714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Room</a:t>
            </a:r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6754800" y="3885200"/>
            <a:ext cx="2077500" cy="714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Firebase</a:t>
            </a:r>
            <a:endParaRPr/>
          </a:p>
        </p:txBody>
      </p:sp>
      <p:cxnSp>
        <p:nvCxnSpPr>
          <p:cNvPr id="103" name="Google Shape;103;p18"/>
          <p:cNvCxnSpPr>
            <a:stCxn id="97" idx="2"/>
            <a:endCxn id="100" idx="0"/>
          </p:cNvCxnSpPr>
          <p:nvPr/>
        </p:nvCxnSpPr>
        <p:spPr>
          <a:xfrm>
            <a:off x="4976950" y="1767724"/>
            <a:ext cx="0" cy="128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8"/>
          <p:cNvCxnSpPr>
            <a:stCxn id="100" idx="2"/>
            <a:endCxn id="99" idx="0"/>
          </p:cNvCxnSpPr>
          <p:nvPr/>
        </p:nvCxnSpPr>
        <p:spPr>
          <a:xfrm>
            <a:off x="4976950" y="2593271"/>
            <a:ext cx="0" cy="16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8"/>
          <p:cNvCxnSpPr>
            <a:stCxn id="99" idx="2"/>
            <a:endCxn id="101" idx="0"/>
          </p:cNvCxnSpPr>
          <p:nvPr/>
        </p:nvCxnSpPr>
        <p:spPr>
          <a:xfrm>
            <a:off x="4976950" y="3667201"/>
            <a:ext cx="600" cy="18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8"/>
          <p:cNvCxnSpPr>
            <a:stCxn id="99" idx="3"/>
            <a:endCxn id="102" idx="0"/>
          </p:cNvCxnSpPr>
          <p:nvPr/>
        </p:nvCxnSpPr>
        <p:spPr>
          <a:xfrm>
            <a:off x="6015700" y="3210601"/>
            <a:ext cx="1777800" cy="67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8"/>
          <p:cNvCxnSpPr>
            <a:stCxn id="99" idx="1"/>
            <a:endCxn id="98" idx="0"/>
          </p:cNvCxnSpPr>
          <p:nvPr/>
        </p:nvCxnSpPr>
        <p:spPr>
          <a:xfrm flipH="1">
            <a:off x="2113000" y="3210601"/>
            <a:ext cx="1825200" cy="67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620"/>
              <a:t>Архитектура приложения</a:t>
            </a:r>
            <a:endParaRPr sz="2620"/>
          </a:p>
        </p:txBody>
      </p:sp>
      <p:pic>
        <p:nvPicPr>
          <p:cNvPr id="114" name="Google Shape;114;p19" title="Архитектура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5613" y="1078675"/>
            <a:ext cx="5850868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620">
                <a:latin typeface="Times New Roman"/>
                <a:ea typeface="Times New Roman"/>
                <a:cs typeface="Times New Roman"/>
                <a:sym typeface="Times New Roman"/>
              </a:rPr>
              <a:t>Модель данных</a:t>
            </a:r>
            <a:endParaRPr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p20" title="er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125" y="1017725"/>
            <a:ext cx="7211760" cy="397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1" title="фильтры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0375" y="376450"/>
            <a:ext cx="3682051" cy="467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>
            <p:ph type="title"/>
          </p:nvPr>
        </p:nvSpPr>
        <p:spPr>
          <a:xfrm>
            <a:off x="91450" y="376450"/>
            <a:ext cx="592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620">
                <a:latin typeface="Times New Roman"/>
                <a:ea typeface="Times New Roman"/>
                <a:cs typeface="Times New Roman"/>
                <a:sym typeface="Times New Roman"/>
              </a:rPr>
              <a:t>Алгоритм подбора по ингредиентам </a:t>
            </a:r>
            <a:endParaRPr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91450" y="376450"/>
            <a:ext cx="592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620">
                <a:latin typeface="Times New Roman"/>
                <a:ea typeface="Times New Roman"/>
                <a:cs typeface="Times New Roman"/>
                <a:sym typeface="Times New Roman"/>
              </a:rPr>
              <a:t>Диаграмма последовательностей</a:t>
            </a:r>
            <a:endParaRPr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" name="Google Shape;135;p22" title="Диаграмма последовательностей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6875" y="949150"/>
            <a:ext cx="6333650" cy="433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620">
                <a:latin typeface="Times New Roman"/>
                <a:ea typeface="Times New Roman"/>
                <a:cs typeface="Times New Roman"/>
                <a:sym typeface="Times New Roman"/>
              </a:rPr>
              <a:t>Диаграмма прецедентов </a:t>
            </a:r>
            <a:endParaRPr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2" name="Google Shape;142;p23" title="use-case.drawio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198" cy="337969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282750" y="27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620">
                <a:latin typeface="Times New Roman"/>
                <a:ea typeface="Times New Roman"/>
                <a:cs typeface="Times New Roman"/>
                <a:sym typeface="Times New Roman"/>
              </a:rPr>
              <a:t>Каталог и поиск</a:t>
            </a:r>
            <a:endParaRPr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/mnt/data/c646aef5-946c-4062-9e45-bfdef1b96724.png" id="149" name="Google Shape;1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3101" y="965825"/>
            <a:ext cx="1820900" cy="4096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5b40360b-302b-4bc7-a307-901ceaeb607f.png" id="150" name="Google Shape;15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3211" y="960125"/>
            <a:ext cx="1819678" cy="4091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ce84bd8d-08ae-46d1-a571-1f43e82e8059.png" id="151" name="Google Shape;15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22095" y="965823"/>
            <a:ext cx="1820905" cy="408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259900" y="185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620">
                <a:latin typeface="Times New Roman"/>
                <a:ea typeface="Times New Roman"/>
                <a:cs typeface="Times New Roman"/>
                <a:sym typeface="Times New Roman"/>
              </a:rPr>
              <a:t>Избранное и мой бар</a:t>
            </a:r>
            <a:endParaRPr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/mnt/data/534aa452-a29c-48d9-828c-7b69409b1324.png" id="158" name="Google Shape;15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1875" y="701051"/>
            <a:ext cx="1870656" cy="42078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0920a85c-769e-491f-b7fb-d4f8fb19b469.png" id="159" name="Google Shape;15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7868" y="701050"/>
            <a:ext cx="1870657" cy="421385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282750" y="27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620">
                <a:latin typeface="Times New Roman"/>
                <a:ea typeface="Times New Roman"/>
                <a:cs typeface="Times New Roman"/>
                <a:sym typeface="Times New Roman"/>
              </a:rPr>
              <a:t>Профиль и детали коктейля </a:t>
            </a:r>
            <a:endParaRPr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/mnt/data/current_unzip/ppt/media/image19.jpeg" id="166" name="Google Shape;1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7175" y="855925"/>
            <a:ext cx="1825775" cy="40856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51af29a7-c8d4-4b71-b6c1-71ff2a787d11.png" id="167" name="Google Shape;16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8395" y="838288"/>
            <a:ext cx="1825779" cy="40973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26d0296-3475-4e5e-81b4-243c119a4006.png" id="168" name="Google Shape;16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54900" y="832387"/>
            <a:ext cx="1825775" cy="410916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620"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ходе работы решены следующие задачи: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ru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Проведен</a:t>
            </a:r>
            <a:r>
              <a:rPr lang="ru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анализ предметной области и существующих аналогов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ru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Спроектирована архитектура на основе Clean Architecture и MVVM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ru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Разработан алгоритм параллельного подбора рецептов по ингредиентам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ru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Реализованы экраны приложения и облачная синхронизация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rPr lang="ru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/>
        </p:nvSpPr>
        <p:spPr>
          <a:xfrm>
            <a:off x="0" y="261593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i="0" lang="ru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МИНОБРНАУКИ РОССИИ ФЕДЕРАЛЬНОЕ ГОСУДАРСТВЕННОЕ БЮДЖЕТНОЕ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i="0" lang="ru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ОБРАЗОВАТЕЛЬНОЕ УЧРЕЖДЕНИЕ ВЫСШЕГО ОБРАЗОВАНИЯ «ВОРОНЕЖСКИЙ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i="0" lang="ru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ГОСУДАРСТВЕННЫЙ УНИВЕРСИТЕТ» (ФГБОУ ВО «ВГУ»)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1728121" y="2255316"/>
            <a:ext cx="61035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" sz="2700">
                <a:latin typeface="Times New Roman"/>
                <a:ea typeface="Times New Roman"/>
                <a:cs typeface="Times New Roman"/>
                <a:sym typeface="Times New Roman"/>
              </a:rPr>
              <a:t>Разработка мобильного приложения для поиска рецептов коктейлей </a:t>
            </a:r>
            <a:endParaRPr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763999" y="1297004"/>
            <a:ext cx="7950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i="0" lang="ru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Факультет компьютерных наук</a:t>
            </a:r>
            <a:endParaRPr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i="0" lang="ru" sz="1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Кафедра программирования и информационных технологий</a:t>
            </a:r>
            <a:endParaRPr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3013210" y="4375022"/>
            <a:ext cx="6103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None/>
            </a:pPr>
            <a:r>
              <a:rPr i="0" lang="ru" sz="2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Консультант: Ушаков В.А.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None/>
            </a:pPr>
            <a:r>
              <a:rPr i="0" lang="ru" sz="2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Выполнил: </a:t>
            </a:r>
            <a:r>
              <a:rPr lang="ru" sz="2300">
                <a:latin typeface="Times New Roman"/>
                <a:ea typeface="Times New Roman"/>
                <a:cs typeface="Times New Roman"/>
                <a:sym typeface="Times New Roman"/>
              </a:rPr>
              <a:t>Ковалев К</a:t>
            </a:r>
            <a:r>
              <a:rPr i="0" lang="ru" sz="2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ru" sz="2300"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r>
              <a:rPr i="0" lang="ru" sz="2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8"/>
          <p:cNvSpPr txBox="1"/>
          <p:nvPr>
            <p:ph idx="12" type="sldNum"/>
          </p:nvPr>
        </p:nvSpPr>
        <p:spPr>
          <a:xfrm>
            <a:off x="8449608" y="38962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